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9456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1B1B1B"/>
                </a:solidFill>
                <a:latin typeface="Calibri"/>
              </a:rPr>
              <a:t>ARI: method, measurements, and what did not survive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5661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6E6E6E"/>
                </a:solidFill>
                <a:latin typeface="Calibri"/>
              </a:rPr>
              <a:t>Technical appendix. Every figure is generated from the results JSON.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8521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E6E6E"/>
                </a:solidFill>
                <a:latin typeface="Calibri"/>
              </a:rPr>
              <a:t>Reports are Ed25519-signed. Verification is independent of our SDK.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E6E6E"/>
                </a:solidFill>
                <a:latin typeface="Calibri"/>
              </a:rPr>
              <a:t>INSTRUMENT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B1B1B"/>
                </a:solidFill>
                <a:latin typeface="Calibri"/>
              </a:rPr>
              <a:t>What SEMQ is, and what it is for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1">
                <a:solidFill>
                  <a:srgbClr val="1B1B1B"/>
                </a:solidFill>
                <a:latin typeface="Calibri"/>
              </a:rPr>
              <a:t>SEMQ maps a float vector to a symbolic code by comparing against a calibrated scale.</a:t>
            </a:r>
          </a:p>
          <a:p>
            <a:pPr>
              <a:spcAft>
                <a:spcPts val="1200"/>
              </a:spcAft>
            </a:pPr>
            <a:r>
              <a:rPr sz="1700" b="0">
                <a:solidFill>
                  <a:srgbClr val="1B1B1B"/>
                </a:solidFill>
                <a:latin typeface="Calibri"/>
              </a:rPr>
              <a:t>Codes are exact, so agreement is a hash comparison rather than a threshold.</a:t>
            </a:r>
          </a:p>
          <a:p>
            <a:pPr>
              <a:spcAft>
                <a:spcPts val="1200"/>
              </a:spcAft>
            </a:pPr>
            <a:r>
              <a:rPr sz="1700" b="0">
                <a:solidFill>
                  <a:srgbClr val="1B1B1B"/>
                </a:solidFill>
                <a:latin typeface="Calibri"/>
              </a:rPr>
              <a:t>Invariance follows from the operator's form, not from a trained codebook. CI asserts it on three architectures per commit.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C1543A"/>
                </a:solidFill>
                <a:latin typeface="Calibri"/>
              </a:rPr>
              <a:t>Retracted: we previously claimed SEMQ is necessary for the index. It is not. A frozen product quantizer also works.</a:t>
            </a:r>
          </a:p>
          <a:p>
            <a:pPr>
              <a:spcAft>
                <a:spcPts val="1200"/>
              </a:spcAft>
            </a:pPr>
            <a:r>
              <a:rPr sz="1700" b="0">
                <a:solidFill>
                  <a:srgbClr val="1B1B1B"/>
                </a:solidFill>
                <a:latin typeface="Calibri"/>
              </a:rPr>
              <a:t>What survives is verification cost: our guarantee is checkable in advance, theirs must be re-measured for every codebook shipped.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E6E6E"/>
                </a:solidFill>
                <a:latin typeface="Calibri"/>
              </a:rPr>
              <a:t>MEASUREMENT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B1B1B"/>
                </a:solidFill>
                <a:latin typeface="Calibri"/>
              </a:rPr>
              <a:t>ARI-R: retrieval quality is blind to a serving change</a:t>
            </a:r>
          </a:p>
        </p:txBody>
      </p:sp>
      <p:pic>
        <p:nvPicPr>
          <p:cNvPr id="4" name="Picture 3" descr="01-regime-discrimin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554480"/>
            <a:ext cx="10332720" cy="356756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3949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E6E6E"/>
                </a:solidFill>
                <a:latin typeface="Calibri"/>
              </a:rPr>
              <a:t>BEIR SciFact, 5,183 documents, 300 queries with real relevance judgements. Grey bars are controls: new process, single thread, 4x and 16x batch. All read exactly zero, which is what makes the red bars interpretable.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E6E6E"/>
                </a:solidFill>
                <a:latin typeface="Calibri"/>
              </a:rPr>
              <a:t>MEASUREMENT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B1B1B"/>
                </a:solidFill>
                <a:latin typeface="Calibri"/>
              </a:rPr>
              <a:t>ARI-R: the TF32 audit gap, both halves measured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2011680"/>
          <a:ext cx="105156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latin typeface="Calibri"/>
                        </a:rPr>
                        <a:t>Condition vs fp32/CPU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latin typeface="Calibri"/>
                        </a:rPr>
                        <a:t>R@10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latin typeface="Calibri"/>
                        </a:rPr>
                        <a:t>delta R@10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latin typeface="Calibri"/>
                        </a:rPr>
                        <a:t>95% CI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latin typeface="Calibri"/>
                        </a:rPr>
                        <a:t>top-10 lists same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latin typeface="Calibri"/>
                        </a:rPr>
                        <a:t>SEMQ HER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latin typeface="Calibri"/>
                        </a:rPr>
                        <a:t>GPU fp32, TF32 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latin typeface="Calibri"/>
                        </a:rPr>
                        <a:t>0.7833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latin typeface="Calibri"/>
                        </a:rPr>
                        <a:t>+0.0000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latin typeface="Calibri"/>
                        </a:rPr>
                        <a:t>[+0.0000, +0.0000]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latin typeface="Calibri"/>
                        </a:rPr>
                        <a:t>100.00%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latin typeface="Calibri"/>
                        </a:rPr>
                        <a:t>0.9992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6E4F"/>
                          </a:solidFill>
                          <a:latin typeface="Calibri"/>
                        </a:rPr>
                        <a:t>GPU fp32, TF32 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6E4F"/>
                          </a:solidFill>
                          <a:latin typeface="Calibri"/>
                        </a:rPr>
                        <a:t>0.7833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6E4F"/>
                          </a:solidFill>
                          <a:latin typeface="Calibri"/>
                        </a:rPr>
                        <a:t>+0.0000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6E4F"/>
                          </a:solidFill>
                          <a:latin typeface="Calibri"/>
                        </a:rPr>
                        <a:t>[+0.0000, +0.0000]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6E4F"/>
                          </a:solidFill>
                          <a:latin typeface="Calibri"/>
                        </a:rPr>
                        <a:t>96.33%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6E4F"/>
                          </a:solidFill>
                          <a:latin typeface="Calibri"/>
                        </a:rPr>
                        <a:t>0.5267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411480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1B1B1B"/>
                </a:solidFill>
                <a:latin typeface="Calibri"/>
              </a:rPr>
              <a:t>The CI on the quality metric is exactly [0.0000, 0.0000]. Not small. Zero.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1B1B1B"/>
                </a:solidFill>
                <a:latin typeface="Calibri"/>
              </a:rPr>
              <a:t>The TF32-off row is the control. It rules out 'the GPU did it'.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C1543A"/>
                </a:solidFill>
                <a:latin typeface="Calibri"/>
              </a:rPr>
              <a:t>Narrowed claim: retrieval *quality* is blind. Retrieval *result lists* are not. int8 changes 100% of them.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E6E6E"/>
                </a:solidFill>
                <a:latin typeface="Calibri"/>
              </a:rPr>
              <a:t>MEASUREMENT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B1B1B"/>
                </a:solidFill>
                <a:latin typeface="Calibri"/>
              </a:rPr>
              <a:t>ARI-D: the logits move before the tokens</a:t>
            </a:r>
          </a:p>
        </p:txBody>
      </p:sp>
      <p:pic>
        <p:nvPicPr>
          <p:cNvPr id="4" name="Picture 3" descr="02-decoding-early-war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554480"/>
            <a:ext cx="9509760" cy="35794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2120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E6E6E"/>
                </a:solidFill>
                <a:latin typeface="Calibri"/>
              </a:rPr>
              <a:t>Teacher-forced: every condition is scored on the reference token sequence, so position i sees an identical context. That isolates the per-step computation from compounding divergence.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E6E6E"/>
                </a:solidFill>
                <a:latin typeface="Calibri"/>
              </a:rPr>
              <a:t>ADVERSARIAL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B1B1B"/>
                </a:solidFill>
                <a:latin typeface="Calibri"/>
              </a:rPr>
              <a:t>ARI-D: the result that goes against us</a:t>
            </a:r>
          </a:p>
        </p:txBody>
      </p:sp>
      <p:pic>
        <p:nvPicPr>
          <p:cNvPr id="4" name="Picture 3" descr="04-cost-vs-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6766560" cy="433678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98079" y="1737360"/>
            <a:ext cx="4206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300" b="1">
                <a:solidFill>
                  <a:srgbClr val="C1543A"/>
                </a:solidFill>
                <a:latin typeface="Calibri"/>
              </a:rPr>
              <a:t>The top-2 margin sits at the same height and 2,000x to the left.</a:t>
            </a:r>
          </a:p>
          <a:p>
            <a:pPr>
              <a:spcAft>
                <a:spcPts val="1200"/>
              </a:spcAft>
            </a:pPr>
            <a:r>
              <a:rPr sz="1300" b="0">
                <a:solidFill>
                  <a:srgbClr val="1B1B1B"/>
                </a:solidFill>
                <a:latin typeface="Calibri"/>
              </a:rPr>
              <a:t>86% of the signal for 8 bytes per step against SEMQ's 16,000.</a:t>
            </a:r>
          </a:p>
          <a:p>
            <a:pPr>
              <a:spcAft>
                <a:spcPts val="1200"/>
              </a:spcAft>
            </a:pPr>
            <a:r>
              <a:rPr sz="1300" b="0">
                <a:solidFill>
                  <a:srgbClr val="1B1B1B"/>
                </a:solidFill>
                <a:latin typeface="Calibri"/>
              </a:rPr>
              <a:t>Both are equally bit-reproducible.</a:t>
            </a:r>
          </a:p>
          <a:p>
            <a:pPr>
              <a:spcAft>
                <a:spcPts val="1200"/>
              </a:spcAft>
            </a:pPr>
            <a:r>
              <a:rPr sz="1300" b="1">
                <a:solidFill>
                  <a:srgbClr val="C1543A"/>
                </a:solidFill>
                <a:latin typeface="Calibri"/>
              </a:rPr>
              <a:t>For detecting a precision change, ship the margin.</a:t>
            </a:r>
          </a:p>
          <a:p>
            <a:pPr>
              <a:spcAft>
                <a:spcPts val="1200"/>
              </a:spcAft>
            </a:pPr>
            <a:r>
              <a:rPr sz="1300" b="0">
                <a:solidFill>
                  <a:srgbClr val="1B1B1B"/>
                </a:solidFill>
                <a:latin typeface="Calibri"/>
              </a:rPr>
              <a:t/>
            </a:r>
          </a:p>
          <a:p>
            <a:pPr>
              <a:spcAft>
                <a:spcPts val="1200"/>
              </a:spcAft>
            </a:pPr>
            <a:r>
              <a:rPr sz="1300" b="0">
                <a:solidFill>
                  <a:srgbClr val="1B1B1B"/>
                </a:solidFill>
                <a:latin typeface="Calibri"/>
              </a:rPr>
              <a:t>KL divergence is out for a different reason: it is second order, so it reads zero when it matters, and regrouping the arithmetic moves it 4.6%.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E6E6E"/>
                </a:solidFill>
                <a:latin typeface="Calibri"/>
              </a:rPr>
              <a:t>ADVERSARIAL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B1B1B"/>
                </a:solidFill>
                <a:latin typeface="Calibri"/>
              </a:rPr>
              <a:t>ARI-D: what survives is coverage, not sensitivity</a:t>
            </a:r>
          </a:p>
        </p:txBody>
      </p:sp>
      <p:pic>
        <p:nvPicPr>
          <p:cNvPr id="4" name="Picture 3" descr="05-tail-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6949440" cy="40248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80960" y="1737360"/>
            <a:ext cx="4023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300" b="1">
                <a:solidFill>
                  <a:srgbClr val="1B1B1B"/>
                </a:solidFill>
                <a:latin typeface="Calibri"/>
              </a:rPr>
              <a:t>Move only the tail of the distribution and leave the top ranks untouched.</a:t>
            </a:r>
          </a:p>
          <a:p>
            <a:pPr>
              <a:spcAft>
                <a:spcPts val="1200"/>
              </a:spcAft>
            </a:pPr>
            <a:r>
              <a:rPr sz="1300" b="0">
                <a:solidFill>
                  <a:srgbClr val="1B1B1B"/>
                </a:solidFill>
                <a:latin typeface="Calibri"/>
              </a:rPr>
              <a:t>SEMQ does not move: 0.1289 against 0.1288.</a:t>
            </a:r>
          </a:p>
          <a:p>
            <a:pPr>
              <a:spcAft>
                <a:spcPts val="1200"/>
              </a:spcAft>
            </a:pPr>
            <a:r>
              <a:rPr sz="1300" b="1">
                <a:solidFill>
                  <a:srgbClr val="0B6E4F"/>
                </a:solidFill>
                <a:latin typeface="Calibri"/>
              </a:rPr>
              <a:t>The margin and the token statistic read exactly zero.</a:t>
            </a:r>
          </a:p>
          <a:p>
            <a:pPr>
              <a:spcAft>
                <a:spcPts val="1200"/>
              </a:spcAft>
            </a:pPr>
            <a:r>
              <a:rPr sz="1300" b="0">
                <a:solidFill>
                  <a:srgbClr val="1B1B1B"/>
                </a:solidFill>
                <a:latin typeface="Calibri"/>
              </a:rPr>
              <a:t>They are structurally blind, not merely less sensitive.</a:t>
            </a:r>
          </a:p>
          <a:p>
            <a:pPr>
              <a:spcAft>
                <a:spcPts val="1200"/>
              </a:spcAft>
            </a:pPr>
            <a:r>
              <a:rPr sz="1300" b="0">
                <a:solidFill>
                  <a:srgbClr val="1B1B1B"/>
                </a:solidFill>
                <a:latin typeface="Calibri"/>
              </a:rPr>
              <a:t/>
            </a:r>
          </a:p>
          <a:p>
            <a:pPr>
              <a:spcAft>
                <a:spcPts val="1200"/>
              </a:spcAft>
            </a:pPr>
            <a:r>
              <a:rPr sz="1300" b="0">
                <a:solidFill>
                  <a:srgbClr val="C1543A"/>
                </a:solidFill>
                <a:latin typeface="Calibri"/>
              </a:rPr>
              <a:t>Open question: does any real serving change produce tail-confined drift? A precision change does not. A token-suppression filter or an adapter might.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E6E6E"/>
                </a:solidFill>
                <a:latin typeface="Calibri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B1B1B"/>
                </a:solidFill>
                <a:latin typeface="Calibri"/>
              </a:rPr>
              <a:t>ARI-E: the estimator and its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1">
                <a:solidFill>
                  <a:srgbClr val="1B1B1B"/>
                </a:solidFill>
                <a:latin typeface="Calibri"/>
              </a:rPr>
              <a:t>Cross-harness disagreement means nothing until you know how often one harness disagrees with itself.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1B1B1B"/>
                </a:solidFill>
                <a:latin typeface="Calibri"/>
              </a:rPr>
              <a:t/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F5D8A"/>
                </a:solidFill>
                <a:latin typeface="Calibri"/>
              </a:rPr>
              <a:t>E(h1, h2)  =  mean self-consistency  -  cross-harness agreement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1B1B1B"/>
                </a:solidFill>
                <a:latin typeface="Calibri"/>
              </a:rPr>
              <a:t/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1B1B1B"/>
                </a:solidFill>
                <a:latin typeface="Calibri"/>
              </a:rPr>
              <a:t>Zero means the harnesses are interchangeable on those cases.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1B1B1B"/>
                </a:solidFill>
                <a:latin typeface="Calibri"/>
              </a:rPr>
              <a:t>If a harness has one run per case, self-consistency is unmeasurable. The code refuses to report an effect rather than assuming 1.0.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1B1B1B"/>
                </a:solidFill>
                <a:latin typeface="Calibri"/>
              </a:rPr>
              <a:t>Intervals resample cases, not runs, because runs of one case are not independent.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E6E6E"/>
                </a:solidFill>
                <a:latin typeface="Calibri"/>
              </a:rPr>
              <a:t>MEASUREMENT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B1B1B"/>
                </a:solidFill>
                <a:latin typeface="Calibri"/>
              </a:rPr>
              <a:t>ARI-E: measured on 22,000 real agent runs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828800"/>
          <a:ext cx="1051560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latin typeface="Calibri"/>
                        </a:rPr>
                        <a:t>Contrast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latin typeface="Calibri"/>
                        </a:rPr>
                        <a:t>Cases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latin typeface="Calibri"/>
                        </a:rPr>
                        <a:t>Self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latin typeface="Calibri"/>
                        </a:rPr>
                        <a:t>Cross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latin typeface="Calibri"/>
                        </a:rPr>
                        <a:t>Effect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latin typeface="Calibri"/>
                        </a:rPr>
                        <a:t>95% CI</a:t>
                      </a:r>
                    </a:p>
                  </a:txBody>
                  <a:tcPr/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latin typeface="Calibri"/>
                        </a:rPr>
                        <a:t>scaffold model=qwen35_122b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latin typeface="Calibri"/>
                        </a:rPr>
                        <a:t>10,788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latin typeface="Calibri"/>
                        </a:rPr>
                        <a:t>0.874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latin typeface="Calibri"/>
                        </a:rPr>
                        <a:t>0.785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latin typeface="Calibri"/>
                        </a:rPr>
                        <a:t>+0.089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latin typeface="Calibri"/>
                        </a:rPr>
                        <a:t>[+0.083, +0.094]</a:t>
                      </a:r>
                    </a:p>
                  </a:txBody>
                  <a:tcPr/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latin typeface="Calibri"/>
                        </a:rPr>
                        <a:t>scaffold model=minimax_m25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latin typeface="Calibri"/>
                        </a:rPr>
                        <a:t>12,195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latin typeface="Calibri"/>
                        </a:rPr>
                        <a:t>0.899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latin typeface="Calibri"/>
                        </a:rPr>
                        <a:t>0.849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latin typeface="Calibri"/>
                        </a:rPr>
                        <a:t>+0.050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latin typeface="Calibri"/>
                        </a:rPr>
                        <a:t>[+0.044, +0.052]</a:t>
                      </a:r>
                    </a:p>
                  </a:txBody>
                  <a:tcPr/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latin typeface="Calibri"/>
                        </a:rPr>
                        <a:t>model, scaffold=sweagent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latin typeface="Calibri"/>
                        </a:rPr>
                        <a:t>10,674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latin typeface="Calibri"/>
                        </a:rPr>
                        <a:t>0.880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latin typeface="Calibri"/>
                        </a:rPr>
                        <a:t>0.839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latin typeface="Calibri"/>
                        </a:rPr>
                        <a:t>+0.041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latin typeface="Calibri"/>
                        </a:rPr>
                        <a:t>[+0.039, +0.046]</a:t>
                      </a:r>
                    </a:p>
                  </a:txBody>
                  <a:tcPr/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latin typeface="Calibri"/>
                        </a:rPr>
                        <a:t>model, scaffold=openhands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latin typeface="Calibri"/>
                        </a:rPr>
                        <a:t>11,933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latin typeface="Calibri"/>
                        </a:rPr>
                        <a:t>0.892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latin typeface="Calibri"/>
                        </a:rPr>
                        <a:t>0.833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latin typeface="Calibri"/>
                        </a:rPr>
                        <a:t>+0.059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latin typeface="Calibri"/>
                        </a:rPr>
                        <a:t>[+0.054, +0.062]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44805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00" b="0">
                <a:solidFill>
                  <a:srgbClr val="1B1B1B"/>
                </a:solidFill>
                <a:latin typeface="Calibri"/>
              </a:rPr>
              <a:t>Source: nvidia/Open-SWE-Traces. SWE-agent and OpenHands, crossed with two models. Neither scaffold was built by us.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1B1B1B"/>
                </a:solidFill>
                <a:latin typeface="Calibri"/>
              </a:rPr>
              <a:t>Outcome is the repository's own test suite, which the agent never saw.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C1543A"/>
                </a:solidFill>
                <a:latin typeface="Calibri"/>
              </a:rPr>
              <a:t>Largest threat: 22% of rows were ungraded and dropped. If grading failure tracks difficulty, the surviving set is easier.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E6E6E"/>
                </a:solidFill>
                <a:latin typeface="Calibri"/>
              </a:rPr>
              <a:t>POWER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B1B1B"/>
                </a:solidFill>
                <a:latin typeface="Calibri"/>
              </a:rPr>
              <a:t>ARI-E: why the earlier plan would have failed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828800"/>
          <a:ext cx="1051560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103120"/>
                <a:gridCol w="2103120"/>
                <a:gridCol w="2103120"/>
                <a:gridCol w="2103120"/>
              </a:tblGrid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latin typeface="Calibri"/>
                        </a:rPr>
                        <a:t>Pass-rate gap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latin typeface="Calibri"/>
                        </a:rPr>
                        <a:t>Repeats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latin typeface="Calibri"/>
                        </a:rPr>
                        <a:t>25 cases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latin typeface="Calibri"/>
                        </a:rPr>
                        <a:t>100 cases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latin typeface="Calibri"/>
                        </a:rPr>
                        <a:t>200 cases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latin typeface="Calibri"/>
                        </a:rPr>
                        <a:t>0.00 (null)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latin typeface="Calibri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latin typeface="Calibri"/>
                        </a:rPr>
                        <a:t>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latin typeface="Calibri"/>
                        </a:rPr>
                        <a:t>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latin typeface="Calibri"/>
                        </a:rPr>
                        <a:t>6%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C1543A"/>
                          </a:solidFill>
                          <a:latin typeface="Calibri"/>
                        </a:rPr>
                        <a:t>0.20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C1543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C1543A"/>
                          </a:solidFill>
                          <a:latin typeface="Calibri"/>
                        </a:rPr>
                        <a:t>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C1543A"/>
                          </a:solidFill>
                          <a:latin typeface="Calibri"/>
                        </a:rPr>
                        <a:t>11%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C1543A"/>
                          </a:solidFill>
                          <a:latin typeface="Calibri"/>
                        </a:rPr>
                        <a:t>37%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latin typeface="Calibri"/>
                        </a:rPr>
                        <a:t>0.20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latin typeface="Calibri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latin typeface="Calibri"/>
                        </a:rPr>
                        <a:t>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latin typeface="Calibri"/>
                        </a:rPr>
                        <a:t>74%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latin typeface="Calibri"/>
                        </a:rPr>
                        <a:t>96%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latin typeface="Calibri"/>
                        </a:rPr>
                        <a:t>0.40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latin typeface="Calibri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latin typeface="Calibri"/>
                        </a:rPr>
                        <a:t>99%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411480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C1543A"/>
                </a:solidFill>
                <a:latin typeface="Calibri"/>
              </a:rPr>
              <a:t>We planned to run 25 cases at 2 repeats. That design detects a 20-point gap 8% of the time.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1B1B1B"/>
                </a:solidFill>
                <a:latin typeface="Calibri"/>
              </a:rPr>
              <a:t>The published result that motivated the work, 24/25 against 19/25, is a 20-point gap. We would have missed it nine times in ten.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0B6E4F"/>
                </a:solidFill>
                <a:latin typeface="Calibri"/>
              </a:rPr>
              <a:t>Simulated before spending the compute, not after.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E6E6E"/>
                </a:solidFill>
                <a:latin typeface="Calibri"/>
              </a:rPr>
              <a:t>ATTESTATION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B1B1B"/>
                </a:solidFill>
                <a:latin typeface="Calibri"/>
              </a:rPr>
              <a:t>Verification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1B1B1B"/>
                </a:solidFill>
                <a:latin typeface="Calibri"/>
              </a:rPr>
              <a:t>Signing uses SEMQ. Repo content-addresses the artifacts, notary produces an Ed25519 sidecar.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1B1B1B"/>
                </a:solidFill>
                <a:latin typeface="Calibri"/>
              </a:rPr>
              <a:t>What is signed is a manifest, not the report. It names every input by digest, so swapping the data underneath an unchanged report fails.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0B6E4F"/>
                </a:solidFill>
                <a:latin typeface="Calibri"/>
              </a:rPr>
              <a:t>Verification does not require SEMQ. The standalone verifier is stdlib plus cryptography, and a test walks its import graph to prove it.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1B1B1B"/>
                </a:solidFill>
                <a:latin typeface="Calibri"/>
              </a:rPr>
              <a:t/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6E6E6E"/>
                </a:solidFill>
                <a:latin typeface="Calibri"/>
              </a:rPr>
              <a:t>Stated limits: a pass shows what was signed, not who signed it unless you pass a key you already trust. Without a timestamp authority the recorded time is the signer's own clock.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E6E6E"/>
                </a:solidFill>
                <a:latin typeface="Calibri"/>
              </a:rPr>
              <a:t>CREDIBILITY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B1B1B"/>
                </a:solidFill>
                <a:latin typeface="Calibri"/>
              </a:rPr>
              <a:t>What we retracted, and why that matters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828800"/>
          <a:ext cx="105156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/>
                <a:gridCol w="525780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latin typeface="Calibri"/>
                        </a:rPr>
                        <a:t>Claim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latin typeface="Calibri"/>
                        </a:rPr>
                        <a:t>Status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latin typeface="Calibri"/>
                        </a:rPr>
                        <a:t>'SEMQ is ~300x more sensitive than retrieval'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latin typeface="Calibri"/>
                        </a:rPr>
                        <a:t>Retracted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latin typeface="Calibri"/>
                        </a:rPr>
                        <a:t>'SEMQ is necessary for the index' (v1, seed stability)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latin typeface="Calibri"/>
                        </a:rPr>
                        <a:t>Retracted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latin typeface="Calibri"/>
                        </a:rPr>
                        <a:t>'A frozen VQ is not verifiable' (v2)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latin typeface="Calibri"/>
                        </a:rPr>
                        <a:t>Retracted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latin typeface="Calibri"/>
                        </a:rPr>
                        <a:t>'Serving changes are invisible to retrieval'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latin typeface="Calibri"/>
                        </a:rPr>
                        <a:t>Narrowed to quality metrics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latin typeface="Calibri"/>
                        </a:rPr>
                        <a:t>'SEMQ is the most sensitive decoding probe'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latin typeface="Calibri"/>
                        </a:rPr>
                        <a:t>Withdrawn; margin is cheaper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502920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1">
                <a:solidFill>
                  <a:srgbClr val="0B6E4F"/>
                </a:solidFill>
                <a:latin typeface="Calibri"/>
              </a:rPr>
              <a:t>Each was retracted because we tested it adversarially and it failed, not because someone else caught it.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1B1B1B"/>
                </a:solidFill>
                <a:latin typeface="Calibri"/>
              </a:rPr>
              <a:t>The claims that remain have survived that process.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